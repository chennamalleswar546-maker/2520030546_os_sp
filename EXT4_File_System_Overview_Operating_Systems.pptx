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4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600200"/>
            <a:ext cx="106070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EXT4 FILE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>
                <a:solidFill>
                  <a:srgbClr val="DCE6F0"/>
                </a:solidFill>
              </a:defRPr>
            </a:pPr>
            <a:r>
              <a:t>Overview and Working in Operating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977639"/>
            <a:ext cx="8503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Operating Systems • File System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44C"/>
                </a:solidFill>
              </a:defRPr>
            </a:pPr>
            <a:r>
              <a:t>1. What is a File System?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t>• A file system is the method an operating system uses to organize and store files on a storage device.</a:t>
            </a:r>
          </a:p>
          <a:p>
            <a:pPr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t>• It manages files, directories, permissions, metadata, and free space.</a:t>
            </a:r>
          </a:p>
          <a:p>
            <a:pPr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t>• It provides a logical structure so users and applications can access data easily.</a:t>
            </a:r>
          </a:p>
          <a:p>
            <a:pPr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t>• Examples include EXT4, NTFS, APFS, XFS, and FAT32.</a:t>
            </a:r>
          </a:p>
          <a:p>
            <a:pPr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t>• EXT4 is one of the most widely used file systems in Linux systems.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3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574536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44C"/>
                </a:solidFill>
              </a:defRPr>
            </a:pPr>
            <a:r>
              <a:t>2. What is EXT4?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5257800" cy="4480560"/>
          </a:xfrm>
          <a:prstGeom prst="roundRect">
            <a:avLst/>
          </a:prstGeom>
          <a:solidFill>
            <a:srgbClr val="F0F4F8"/>
          </a:solidFill>
          <a:ln>
            <a:solidFill>
              <a:srgbClr val="3069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4800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306998"/>
                </a:solidFill>
              </a:defRPr>
            </a:pPr>
            <a:r>
              <a:t>Basic 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57400"/>
            <a:ext cx="4709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3282D"/>
                </a:solidFill>
              </a:defRPr>
            </a:pPr>
            <a:r>
              <a:t>• EXT4 means Fourth Extended File System.</a:t>
            </a:r>
          </a:p>
          <a:p>
            <a:pPr>
              <a:spcAft>
                <a:spcPts val="1200"/>
              </a:spcAft>
              <a:defRPr sz="1600">
                <a:solidFill>
                  <a:srgbClr val="23282D"/>
                </a:solidFill>
              </a:defRPr>
            </a:pPr>
            <a:r>
              <a:t>• It is a journaling file system designed mainly for Linux.</a:t>
            </a:r>
          </a:p>
          <a:p>
            <a:pPr>
              <a:spcAft>
                <a:spcPts val="1200"/>
              </a:spcAft>
              <a:defRPr sz="1600">
                <a:solidFill>
                  <a:srgbClr val="23282D"/>
                </a:solidFill>
              </a:defRPr>
            </a:pPr>
            <a:r>
              <a:t>• It is the successor to EXT3.</a:t>
            </a:r>
          </a:p>
          <a:p>
            <a:pPr>
              <a:spcAft>
                <a:spcPts val="1200"/>
              </a:spcAft>
              <a:defRPr sz="1600">
                <a:solidFill>
                  <a:srgbClr val="23282D"/>
                </a:solidFill>
              </a:defRPr>
            </a:pPr>
            <a:r>
              <a:t>• It focuses on reliability, performance, and large storage support.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25880"/>
            <a:ext cx="5257800" cy="4480560"/>
          </a:xfrm>
          <a:prstGeom prst="roundRect">
            <a:avLst/>
          </a:prstGeom>
          <a:solidFill>
            <a:srgbClr val="F0F4F8"/>
          </a:solidFill>
          <a:ln>
            <a:solidFill>
              <a:srgbClr val="3069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554480"/>
            <a:ext cx="4800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306998"/>
                </a:solidFill>
              </a:defRPr>
            </a:pPr>
            <a:r>
              <a:t>Where It Is Used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2057400"/>
            <a:ext cx="4709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3282D"/>
                </a:solidFill>
              </a:defRPr>
            </a:pPr>
            <a:r>
              <a:t>• Linux desktops and servers</a:t>
            </a:r>
          </a:p>
          <a:p>
            <a:pPr>
              <a:spcAft>
                <a:spcPts val="1200"/>
              </a:spcAft>
              <a:defRPr sz="1600">
                <a:solidFill>
                  <a:srgbClr val="23282D"/>
                </a:solidFill>
              </a:defRPr>
            </a:pPr>
            <a:r>
              <a:t>• Virtual machines and cloud systems</a:t>
            </a:r>
          </a:p>
          <a:p>
            <a:pPr>
              <a:spcAft>
                <a:spcPts val="1200"/>
              </a:spcAft>
              <a:defRPr sz="1600">
                <a:solidFill>
                  <a:srgbClr val="23282D"/>
                </a:solidFill>
              </a:defRPr>
            </a:pPr>
            <a:r>
              <a:t>• Embedded Linux systems</a:t>
            </a:r>
          </a:p>
          <a:p>
            <a:pPr>
              <a:spcAft>
                <a:spcPts val="1200"/>
              </a:spcAft>
              <a:defRPr sz="1600">
                <a:solidFill>
                  <a:srgbClr val="23282D"/>
                </a:solidFill>
              </a:defRPr>
            </a:pPr>
            <a:r>
              <a:t>• General-purpose Linux installations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3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0" y="6574536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44C"/>
                </a:solidFill>
              </a:defRPr>
            </a:pPr>
            <a:r>
              <a:t>3. Evolution: EXT2 → EXT3 → EXT4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3246120" cy="2834640"/>
          </a:xfrm>
          <a:prstGeom prst="roundRect">
            <a:avLst/>
          </a:prstGeom>
          <a:solidFill>
            <a:srgbClr val="F0F4F8"/>
          </a:solidFill>
          <a:ln>
            <a:solidFill>
              <a:srgbClr val="3069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2880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306998"/>
                </a:solidFill>
              </a:defRPr>
            </a:pPr>
            <a:r>
              <a:t>EXT2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834640"/>
            <a:ext cx="2697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23282D"/>
                </a:solidFill>
              </a:defRPr>
            </a:pPr>
            <a:r>
              <a:t>Original extended file system</a:t>
            </a:r>
            <a:br/>
            <a:r>
              <a:t>Good performance, but no journaling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5072" y="2743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44C"/>
                </a:solidFill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1828800"/>
            <a:ext cx="3246120" cy="2834640"/>
          </a:xfrm>
          <a:prstGeom prst="roundRect">
            <a:avLst/>
          </a:prstGeom>
          <a:solidFill>
            <a:srgbClr val="F0F4F8"/>
          </a:solidFill>
          <a:ln>
            <a:solidFill>
              <a:srgbClr val="3069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2103120"/>
            <a:ext cx="2880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306998"/>
                </a:solidFill>
              </a:defRPr>
            </a:pPr>
            <a:r>
              <a:t>EXT3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2834640"/>
            <a:ext cx="2697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23282D"/>
                </a:solidFill>
              </a:defRPr>
            </a:pPr>
            <a:r>
              <a:t>Added journaling</a:t>
            </a:r>
            <a:br/>
            <a:r>
              <a:t>Improved recovery after crashes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99832" y="2743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44C"/>
                </a:solidFill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828800"/>
            <a:ext cx="3246120" cy="2834640"/>
          </a:xfrm>
          <a:prstGeom prst="roundRect">
            <a:avLst/>
          </a:prstGeom>
          <a:solidFill>
            <a:srgbClr val="F0F4F8"/>
          </a:solidFill>
          <a:ln>
            <a:solidFill>
              <a:srgbClr val="3069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2103120"/>
            <a:ext cx="2880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306998"/>
                </a:solidFill>
              </a:defRPr>
            </a:pPr>
            <a:r>
              <a:t>EXT4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2834640"/>
            <a:ext cx="2697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23282D"/>
                </a:solidFill>
              </a:defRPr>
            </a:pPr>
            <a:r>
              <a:t>Improved scalability and performance</a:t>
            </a:r>
            <a:br/>
            <a:r>
              <a:t>Extents, delayed allocation, larger files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3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0" y="6574536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44C"/>
                </a:solidFill>
              </a:defRPr>
            </a:pPr>
            <a:r>
              <a:t>4. EXT4 High-Level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1371600"/>
            <a:ext cx="8503920" cy="777240"/>
          </a:xfrm>
          <a:prstGeom prst="roundRect">
            <a:avLst/>
          </a:prstGeom>
          <a:solidFill>
            <a:srgbClr val="F0F4F8"/>
          </a:solidFill>
          <a:ln>
            <a:solidFill>
              <a:srgbClr val="3069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57400" y="1444752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44C"/>
                </a:solidFill>
              </a:defRPr>
            </a:pPr>
            <a:r>
              <a:t>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444752"/>
            <a:ext cx="5943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82D"/>
                </a:solidFill>
              </a:defRPr>
            </a:pPr>
            <a:r>
              <a:t>Programs that create, read, write and delete files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2514600"/>
            <a:ext cx="8503920" cy="777240"/>
          </a:xfrm>
          <a:prstGeom prst="roundRect">
            <a:avLst/>
          </a:prstGeom>
          <a:solidFill>
            <a:srgbClr val="E2EBF2"/>
          </a:solidFill>
          <a:ln>
            <a:solidFill>
              <a:srgbClr val="3069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57400" y="2587752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44C"/>
                </a:solidFill>
              </a:defRPr>
            </a:pPr>
            <a:r>
              <a:t>System Calls / VFS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587752"/>
            <a:ext cx="5943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82D"/>
                </a:solidFill>
              </a:defRPr>
            </a:pPr>
            <a:r>
              <a:t>Linux interface between applications and file systems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657600"/>
            <a:ext cx="8503920" cy="777240"/>
          </a:xfrm>
          <a:prstGeom prst="roundRect">
            <a:avLst/>
          </a:prstGeom>
          <a:solidFill>
            <a:srgbClr val="F0F4F8"/>
          </a:solidFill>
          <a:ln>
            <a:solidFill>
              <a:srgbClr val="3069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57400" y="3730752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44C"/>
                </a:solidFill>
              </a:defRPr>
            </a:pPr>
            <a:r>
              <a:t>EXT4 File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730752"/>
            <a:ext cx="5943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82D"/>
                </a:solidFill>
              </a:defRPr>
            </a:pPr>
            <a:r>
              <a:t>Directories • inodes • extents • journal • allocation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4800600"/>
            <a:ext cx="8503920" cy="777240"/>
          </a:xfrm>
          <a:prstGeom prst="roundRect">
            <a:avLst/>
          </a:prstGeom>
          <a:solidFill>
            <a:srgbClr val="E2EBF2"/>
          </a:solidFill>
          <a:ln>
            <a:solidFill>
              <a:srgbClr val="3069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57400" y="4873752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44C"/>
                </a:solidFill>
              </a:defRPr>
            </a:pPr>
            <a:r>
              <a:t>Block Device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4873752"/>
            <a:ext cx="5943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82D"/>
                </a:solidFill>
              </a:defRPr>
            </a:pPr>
            <a:r>
              <a:t>Disk / SSD storage divided into blocks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3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0" y="6574536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44C"/>
                </a:solidFill>
              </a:defRPr>
            </a:pPr>
            <a:r>
              <a:t>5. Important EXT4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t>• Journaling – records important changes to help recover after crashes.</a:t>
            </a:r>
          </a:p>
          <a:p>
            <a:pPr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t>• Extents – store large files using ranges of contiguous blocks, reducing metadata overhead.</a:t>
            </a:r>
          </a:p>
          <a:p>
            <a:pPr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t>• Delayed allocation – waits before choosing disk blocks, which can improve allocation efficiency.</a:t>
            </a:r>
          </a:p>
          <a:p>
            <a:pPr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t>• Large file and file-system support – designed for modern, large storage environments.</a:t>
            </a:r>
          </a:p>
          <a:p>
            <a:pPr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t>• Backward compatibility – can generally work with existing EXT2/EXT3 file-system structures.</a:t>
            </a:r>
          </a:p>
          <a:p>
            <a:pPr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t>• Checksums and metadata improvements – increase reliability and integrity.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3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574536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44C"/>
                </a:solidFill>
              </a:defRPr>
            </a:pPr>
            <a:r>
              <a:t>6. Inodes and File Metadata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5257800" cy="4480560"/>
          </a:xfrm>
          <a:prstGeom prst="roundRect">
            <a:avLst/>
          </a:prstGeom>
          <a:solidFill>
            <a:srgbClr val="F0F4F8"/>
          </a:solidFill>
          <a:ln>
            <a:solidFill>
              <a:srgbClr val="3069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4800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306998"/>
                </a:solidFill>
              </a:defRPr>
            </a:pPr>
            <a:r>
              <a:t>What is an Inode?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57400"/>
            <a:ext cx="4709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3282D"/>
                </a:solidFill>
              </a:defRPr>
            </a:pPr>
            <a:r>
              <a:t>• An inode is a data structure that stores information about a file.</a:t>
            </a:r>
          </a:p>
          <a:p>
            <a:pPr>
              <a:spcAft>
                <a:spcPts val="1200"/>
              </a:spcAft>
              <a:defRPr sz="1600">
                <a:solidFill>
                  <a:srgbClr val="23282D"/>
                </a:solidFill>
              </a:defRPr>
            </a:pPr>
            <a:r>
              <a:t>• It contains metadata such as file type, permissions, owner, size and timestamps.</a:t>
            </a:r>
          </a:p>
          <a:p>
            <a:pPr>
              <a:spcAft>
                <a:spcPts val="1200"/>
              </a:spcAft>
              <a:defRPr sz="1600">
                <a:solidFill>
                  <a:srgbClr val="23282D"/>
                </a:solidFill>
              </a:defRPr>
            </a:pPr>
            <a:r>
              <a:t>• It also keeps references to the blocks/extents containing the file's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25880"/>
            <a:ext cx="5257800" cy="4480560"/>
          </a:xfrm>
          <a:prstGeom prst="roundRect">
            <a:avLst/>
          </a:prstGeom>
          <a:solidFill>
            <a:srgbClr val="F0F4F8"/>
          </a:solidFill>
          <a:ln>
            <a:solidFill>
              <a:srgbClr val="3069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554480"/>
            <a:ext cx="4800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306998"/>
                </a:solidFill>
              </a:defRPr>
            </a:pPr>
            <a:r>
              <a:t>Important 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2057400"/>
            <a:ext cx="4709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3282D"/>
                </a:solidFill>
              </a:defRPr>
            </a:pPr>
            <a:r>
              <a:t>• The file name is stored in a directory entry.</a:t>
            </a:r>
          </a:p>
          <a:p>
            <a:pPr>
              <a:spcAft>
                <a:spcPts val="1200"/>
              </a:spcAft>
              <a:defRPr sz="1600">
                <a:solidFill>
                  <a:srgbClr val="23282D"/>
                </a:solidFill>
              </a:defRPr>
            </a:pPr>
            <a:r>
              <a:t>• The directory maps the name to an inode number.</a:t>
            </a:r>
          </a:p>
          <a:p>
            <a:pPr>
              <a:spcAft>
                <a:spcPts val="1200"/>
              </a:spcAft>
              <a:defRPr sz="1600">
                <a:solidFill>
                  <a:srgbClr val="23282D"/>
                </a:solidFill>
              </a:defRPr>
            </a:pPr>
            <a:r>
              <a:t>• This separation helps the file system manage files efficiently.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3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0" y="6574536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44C"/>
                </a:solidFill>
              </a:defRPr>
            </a:pPr>
            <a:r>
              <a:t>7. Extents – A Key EXT4 Feature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t>• An extent represents a range of consecutive physical blocks used by a file.</a:t>
            </a:r>
          </a:p>
          <a:p>
            <a:pPr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t>• Older systems could record many individual block pointers for a large file.</a:t>
            </a:r>
          </a:p>
          <a:p>
            <a:pPr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t>• EXT4 can represent large continuous areas more compactly using extents.</a:t>
            </a:r>
          </a:p>
          <a:p>
            <a:pPr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t>• This reduces metadata overhead and can improve performance for large files.</a:t>
            </a:r>
          </a:p>
          <a:p>
            <a:pPr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t>• Example: instead of recording 1000 separate block references, one extent can describe a continuous range of 1000 blocks.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3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574536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44C"/>
                </a:solidFill>
              </a:defRPr>
            </a:pPr>
            <a:r>
              <a:t>8. Journaling in EXT4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325880"/>
            <a:ext cx="10515600" cy="822960"/>
          </a:xfrm>
          <a:prstGeom prst="roundRect">
            <a:avLst/>
          </a:prstGeom>
          <a:solidFill>
            <a:srgbClr val="F0F4F8"/>
          </a:solidFill>
          <a:ln>
            <a:solidFill>
              <a:srgbClr val="3069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35607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06998"/>
                </a:solidFill>
              </a:defRPr>
            </a:pPr>
            <a:r>
              <a:t>1. Change planned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1435607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82D"/>
                </a:solidFill>
              </a:defRPr>
            </a:pPr>
            <a:r>
              <a:t>The file system prepares a transaction.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514600"/>
            <a:ext cx="10515600" cy="822960"/>
          </a:xfrm>
          <a:prstGeom prst="roundRect">
            <a:avLst/>
          </a:prstGeom>
          <a:solidFill>
            <a:srgbClr val="F0F4F8"/>
          </a:solidFill>
          <a:ln>
            <a:solidFill>
              <a:srgbClr val="3069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624328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06998"/>
                </a:solidFill>
              </a:defRPr>
            </a:pPr>
            <a:r>
              <a:t>2. Journal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624328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82D"/>
                </a:solidFill>
              </a:defRPr>
            </a:pPr>
            <a:r>
              <a:t>Important metadata changes are recorded in the journal.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703320"/>
            <a:ext cx="10515600" cy="822960"/>
          </a:xfrm>
          <a:prstGeom prst="roundRect">
            <a:avLst/>
          </a:prstGeom>
          <a:solidFill>
            <a:srgbClr val="F0F4F8"/>
          </a:solidFill>
          <a:ln>
            <a:solidFill>
              <a:srgbClr val="3069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813048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06998"/>
                </a:solidFill>
              </a:defRPr>
            </a:pPr>
            <a:r>
              <a:t>3. Commit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3813048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82D"/>
                </a:solidFill>
              </a:defRPr>
            </a:pPr>
            <a:r>
              <a:t>The transaction is committed when the required work is safely recorded.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892040"/>
            <a:ext cx="10515600" cy="822960"/>
          </a:xfrm>
          <a:prstGeom prst="roundRect">
            <a:avLst/>
          </a:prstGeom>
          <a:solidFill>
            <a:srgbClr val="F0F4F8"/>
          </a:solidFill>
          <a:ln>
            <a:solidFill>
              <a:srgbClr val="3069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5001768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06998"/>
                </a:solidFill>
              </a:defRPr>
            </a:pPr>
            <a:r>
              <a:t>4. Recovery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5001768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82D"/>
                </a:solidFill>
              </a:defRPr>
            </a:pPr>
            <a:r>
              <a:t>After a crash, the journal helps restore consistent file-system state.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3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0" y="6574536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44C"/>
                </a:solidFill>
              </a:defRPr>
            </a:pPr>
            <a:r>
              <a:t>9. How EXT4 Stores a 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t>• A user creates or modifies a file through an application.</a:t>
            </a:r>
          </a:p>
          <a:p>
            <a:pPr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t>• The request goes through Linux system calls and the Virtual File System (VFS).</a:t>
            </a:r>
          </a:p>
          <a:p>
            <a:pPr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t>• EXT4 finds or allocates suitable storage blocks.</a:t>
            </a:r>
          </a:p>
          <a:p>
            <a:pPr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t>• The file's metadata is stored in its inode, while the actual contents are stored in data blocks described by extents.</a:t>
            </a:r>
          </a:p>
          <a:p>
            <a:pPr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t>• When necessary, the journal records metadata changes for crash recovery.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3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574536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44C"/>
                </a:solidFill>
              </a:defRPr>
            </a:pPr>
            <a:r>
              <a:t>10. Advantages and Limitations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5257800" cy="4480560"/>
          </a:xfrm>
          <a:prstGeom prst="roundRect">
            <a:avLst/>
          </a:prstGeom>
          <a:solidFill>
            <a:srgbClr val="F0F4F8"/>
          </a:solidFill>
          <a:ln>
            <a:solidFill>
              <a:srgbClr val="3069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4800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306998"/>
                </a:solidFill>
              </a:defRPr>
            </a:pPr>
            <a:r>
              <a:t>Advantages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57400"/>
            <a:ext cx="4709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3282D"/>
                </a:solidFill>
              </a:defRPr>
            </a:pPr>
            <a:r>
              <a:t>• Reliable journaling and crash recovery</a:t>
            </a:r>
          </a:p>
          <a:p>
            <a:pPr>
              <a:spcAft>
                <a:spcPts val="1200"/>
              </a:spcAft>
              <a:defRPr sz="1600">
                <a:solidFill>
                  <a:srgbClr val="23282D"/>
                </a:solidFill>
              </a:defRPr>
            </a:pPr>
            <a:r>
              <a:t>• Good performance for general Linux workloads</a:t>
            </a:r>
          </a:p>
          <a:p>
            <a:pPr>
              <a:spcAft>
                <a:spcPts val="1200"/>
              </a:spcAft>
              <a:defRPr sz="1600">
                <a:solidFill>
                  <a:srgbClr val="23282D"/>
                </a:solidFill>
              </a:defRPr>
            </a:pPr>
            <a:r>
              <a:t>• Supports large files and file systems</a:t>
            </a:r>
          </a:p>
          <a:p>
            <a:pPr>
              <a:spcAft>
                <a:spcPts val="1200"/>
              </a:spcAft>
              <a:defRPr sz="1600">
                <a:solidFill>
                  <a:srgbClr val="23282D"/>
                </a:solidFill>
              </a:defRPr>
            </a:pPr>
            <a:r>
              <a:t>• Extents reduce metadata overhead</a:t>
            </a:r>
          </a:p>
          <a:p>
            <a:pPr>
              <a:spcAft>
                <a:spcPts val="1200"/>
              </a:spcAft>
              <a:defRPr sz="1600">
                <a:solidFill>
                  <a:srgbClr val="23282D"/>
                </a:solidFill>
              </a:defRPr>
            </a:pPr>
            <a:r>
              <a:t>• Mature, stable and widely supported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25880"/>
            <a:ext cx="5257800" cy="4480560"/>
          </a:xfrm>
          <a:prstGeom prst="roundRect">
            <a:avLst/>
          </a:prstGeom>
          <a:solidFill>
            <a:srgbClr val="F0F4F8"/>
          </a:solidFill>
          <a:ln>
            <a:solidFill>
              <a:srgbClr val="3069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554480"/>
            <a:ext cx="4800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306998"/>
                </a:solidFill>
              </a:defRPr>
            </a:pPr>
            <a:r>
              <a:t>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2057400"/>
            <a:ext cx="4709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3282D"/>
                </a:solidFill>
              </a:defRPr>
            </a:pPr>
            <a:r>
              <a:t>• Not designed for every specialized workload</a:t>
            </a:r>
          </a:p>
          <a:p>
            <a:pPr>
              <a:spcAft>
                <a:spcPts val="1200"/>
              </a:spcAft>
              <a:defRPr sz="1600">
                <a:solidFill>
                  <a:srgbClr val="23282D"/>
                </a:solidFill>
              </a:defRPr>
            </a:pPr>
            <a:r>
              <a:t>• Some newer file systems provide advanced features such as snapshots or integrated checksumming</a:t>
            </a:r>
          </a:p>
          <a:p>
            <a:pPr>
              <a:spcAft>
                <a:spcPts val="1200"/>
              </a:spcAft>
              <a:defRPr sz="1600">
                <a:solidFill>
                  <a:srgbClr val="23282D"/>
                </a:solidFill>
              </a:defRPr>
            </a:pPr>
            <a:r>
              <a:t>• File-system repair can still take time on very large volumes</a:t>
            </a:r>
          </a:p>
          <a:p>
            <a:pPr>
              <a:spcAft>
                <a:spcPts val="1200"/>
              </a:spcAft>
              <a:defRPr sz="1600">
                <a:solidFill>
                  <a:srgbClr val="23282D"/>
                </a:solidFill>
              </a:defRPr>
            </a:pPr>
            <a:r>
              <a:t>• Best suited to environments where Linux support is available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3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0" y="6574536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44C"/>
                </a:solidFill>
              </a:defRPr>
            </a:pPr>
            <a:r>
              <a:t>11. EXT4 Compared with Other File Systems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2743200" cy="594360"/>
          </a:xfrm>
          <a:prstGeom prst="rect">
            <a:avLst/>
          </a:prstGeom>
          <a:solidFill>
            <a:srgbClr val="1F344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481328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File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3337560" y="1371600"/>
            <a:ext cx="2743200" cy="594360"/>
          </a:xfrm>
          <a:prstGeom prst="rect">
            <a:avLst/>
          </a:prstGeom>
          <a:solidFill>
            <a:srgbClr val="1F344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10712" y="1481328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Common OS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79" y="1371600"/>
            <a:ext cx="2743200" cy="594360"/>
          </a:xfrm>
          <a:prstGeom prst="rect">
            <a:avLst/>
          </a:prstGeom>
          <a:solidFill>
            <a:srgbClr val="1F344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99631" y="1481328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Key Feature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8915399" y="1371600"/>
            <a:ext cx="2743200" cy="594360"/>
          </a:xfrm>
          <a:prstGeom prst="rect">
            <a:avLst/>
          </a:prstGeom>
          <a:solidFill>
            <a:srgbClr val="1F344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88551" y="1481328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Typical Use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65960"/>
            <a:ext cx="2743200" cy="804672"/>
          </a:xfrm>
          <a:prstGeom prst="rect">
            <a:avLst/>
          </a:prstGeom>
          <a:solidFill>
            <a:srgbClr val="F0F4F8"/>
          </a:solidFill>
          <a:ln>
            <a:solidFill>
              <a:srgbClr val="BE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075688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3282D"/>
                </a:solidFill>
              </a:defRPr>
            </a:pPr>
            <a:r>
              <a:t>EXT4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1965960"/>
            <a:ext cx="2743200" cy="804672"/>
          </a:xfrm>
          <a:prstGeom prst="rect">
            <a:avLst/>
          </a:prstGeom>
          <a:solidFill>
            <a:srgbClr val="F0F4F8"/>
          </a:solidFill>
          <a:ln>
            <a:solidFill>
              <a:srgbClr val="BE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10712" y="2075688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3282D"/>
                </a:solidFill>
              </a:defRPr>
            </a:pPr>
            <a:r>
              <a:t>Linux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79" y="1965960"/>
            <a:ext cx="2743200" cy="804672"/>
          </a:xfrm>
          <a:prstGeom prst="rect">
            <a:avLst/>
          </a:prstGeom>
          <a:solidFill>
            <a:srgbClr val="F0F4F8"/>
          </a:solidFill>
          <a:ln>
            <a:solidFill>
              <a:srgbClr val="BE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9631" y="2075688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3282D"/>
                </a:solidFill>
              </a:defRPr>
            </a:pPr>
            <a:r>
              <a:t>Journaling, extents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5399" y="1965960"/>
            <a:ext cx="2743200" cy="804672"/>
          </a:xfrm>
          <a:prstGeom prst="rect">
            <a:avLst/>
          </a:prstGeom>
          <a:solidFill>
            <a:srgbClr val="F0F4F8"/>
          </a:solidFill>
          <a:ln>
            <a:solidFill>
              <a:srgbClr val="BE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88551" y="2075688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3282D"/>
                </a:solidFill>
              </a:defRPr>
            </a:pPr>
            <a:r>
              <a:t>General-purpose Linux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788920"/>
            <a:ext cx="2743200" cy="804672"/>
          </a:xfrm>
          <a:prstGeom prst="rect">
            <a:avLst/>
          </a:prstGeom>
          <a:solidFill>
            <a:srgbClr val="FFFFFF"/>
          </a:solidFill>
          <a:ln>
            <a:solidFill>
              <a:srgbClr val="BE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2898648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3282D"/>
                </a:solidFill>
              </a:defRPr>
            </a:pPr>
            <a:r>
              <a:t>NTFS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37560" y="2788920"/>
            <a:ext cx="2743200" cy="804672"/>
          </a:xfrm>
          <a:prstGeom prst="rect">
            <a:avLst/>
          </a:prstGeom>
          <a:solidFill>
            <a:srgbClr val="FFFFFF"/>
          </a:solidFill>
          <a:ln>
            <a:solidFill>
              <a:srgbClr val="BE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10712" y="2898648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3282D"/>
                </a:solidFill>
              </a:defRPr>
            </a:pPr>
            <a:r>
              <a:t>Windows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79" y="2788920"/>
            <a:ext cx="2743200" cy="804672"/>
          </a:xfrm>
          <a:prstGeom prst="rect">
            <a:avLst/>
          </a:prstGeom>
          <a:solidFill>
            <a:srgbClr val="FFFFFF"/>
          </a:solidFill>
          <a:ln>
            <a:solidFill>
              <a:srgbClr val="BE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99631" y="2898648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3282D"/>
                </a:solidFill>
              </a:defRPr>
            </a:pPr>
            <a:r>
              <a:t>Journaling, ACLs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15399" y="2788920"/>
            <a:ext cx="2743200" cy="804672"/>
          </a:xfrm>
          <a:prstGeom prst="rect">
            <a:avLst/>
          </a:prstGeom>
          <a:solidFill>
            <a:srgbClr val="FFFFFF"/>
          </a:solidFill>
          <a:ln>
            <a:solidFill>
              <a:srgbClr val="BE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1" y="2898648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3282D"/>
                </a:solidFill>
              </a:defRPr>
            </a:pPr>
            <a:r>
              <a:t>Windows systems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611880"/>
            <a:ext cx="2743200" cy="804672"/>
          </a:xfrm>
          <a:prstGeom prst="rect">
            <a:avLst/>
          </a:prstGeom>
          <a:solidFill>
            <a:srgbClr val="F0F4F8"/>
          </a:solidFill>
          <a:ln>
            <a:solidFill>
              <a:srgbClr val="BE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3721608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3282D"/>
                </a:solidFill>
              </a:defRPr>
            </a:pPr>
            <a:r>
              <a:t>XFS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37560" y="3611880"/>
            <a:ext cx="2743200" cy="804672"/>
          </a:xfrm>
          <a:prstGeom prst="rect">
            <a:avLst/>
          </a:prstGeom>
          <a:solidFill>
            <a:srgbClr val="F0F4F8"/>
          </a:solidFill>
          <a:ln>
            <a:solidFill>
              <a:srgbClr val="BE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10712" y="3721608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3282D"/>
                </a:solidFill>
              </a:defRPr>
            </a:pPr>
            <a:r>
              <a:t>Linux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79" y="3611880"/>
            <a:ext cx="2743200" cy="804672"/>
          </a:xfrm>
          <a:prstGeom prst="rect">
            <a:avLst/>
          </a:prstGeom>
          <a:solidFill>
            <a:srgbClr val="F0F4F8"/>
          </a:solidFill>
          <a:ln>
            <a:solidFill>
              <a:srgbClr val="BE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99631" y="3721608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3282D"/>
                </a:solidFill>
              </a:defRPr>
            </a:pPr>
            <a:r>
              <a:t>High scalability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15399" y="3611880"/>
            <a:ext cx="2743200" cy="804672"/>
          </a:xfrm>
          <a:prstGeom prst="rect">
            <a:avLst/>
          </a:prstGeom>
          <a:solidFill>
            <a:srgbClr val="F0F4F8"/>
          </a:solidFill>
          <a:ln>
            <a:solidFill>
              <a:srgbClr val="BE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88551" y="3721608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3282D"/>
                </a:solidFill>
              </a:defRPr>
            </a:pPr>
            <a:r>
              <a:t>Large files / servers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434840"/>
            <a:ext cx="2743200" cy="804672"/>
          </a:xfrm>
          <a:prstGeom prst="rect">
            <a:avLst/>
          </a:prstGeom>
          <a:solidFill>
            <a:srgbClr val="FFFFFF"/>
          </a:solidFill>
          <a:ln>
            <a:solidFill>
              <a:srgbClr val="BE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" y="4544568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3282D"/>
                </a:solidFill>
              </a:defRPr>
            </a:pPr>
            <a:r>
              <a:t>Btrfs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37560" y="4434840"/>
            <a:ext cx="2743200" cy="804672"/>
          </a:xfrm>
          <a:prstGeom prst="rect">
            <a:avLst/>
          </a:prstGeom>
          <a:solidFill>
            <a:srgbClr val="FFFFFF"/>
          </a:solidFill>
          <a:ln>
            <a:solidFill>
              <a:srgbClr val="BE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10712" y="4544568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3282D"/>
                </a:solidFill>
              </a:defRPr>
            </a:pPr>
            <a:r>
              <a:t>Linux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26479" y="4434840"/>
            <a:ext cx="2743200" cy="804672"/>
          </a:xfrm>
          <a:prstGeom prst="rect">
            <a:avLst/>
          </a:prstGeom>
          <a:solidFill>
            <a:srgbClr val="FFFFFF"/>
          </a:solidFill>
          <a:ln>
            <a:solidFill>
              <a:srgbClr val="BE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99631" y="4544568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3282D"/>
                </a:solidFill>
              </a:defRPr>
            </a:pPr>
            <a:r>
              <a:t>Snapshots, checksums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915399" y="4434840"/>
            <a:ext cx="2743200" cy="804672"/>
          </a:xfrm>
          <a:prstGeom prst="rect">
            <a:avLst/>
          </a:prstGeom>
          <a:solidFill>
            <a:srgbClr val="FFFFFF"/>
          </a:solidFill>
          <a:ln>
            <a:solidFill>
              <a:srgbClr val="BE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88551" y="4544568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3282D"/>
                </a:solidFill>
              </a:defRPr>
            </a:pPr>
            <a:r>
              <a:t>Advanced storage features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3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789920" y="6574536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44C"/>
                </a:solidFill>
              </a:defRPr>
            </a:pPr>
            <a:r>
              <a:t>12. Real-World Uses of EXT4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t>• Linux desktop and laptop installations.</a:t>
            </a:r>
          </a:p>
          <a:p>
            <a:pPr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t>• University and enterprise Linux servers.</a:t>
            </a:r>
          </a:p>
          <a:p>
            <a:pPr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t>• Web servers, application servers and development environments.</a:t>
            </a:r>
          </a:p>
          <a:p>
            <a:pPr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t>• Virtual machines and cloud workloads where Linux compatibility is required.</a:t>
            </a:r>
          </a:p>
          <a:p>
            <a:pPr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t>• Storage volumes where stability and general-purpose performance are more important than specialized features.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3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574536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44C"/>
                </a:solidFill>
              </a:defRPr>
            </a:pPr>
            <a:r>
              <a:t>13.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t>• EXT4 is a mature and reliable journaling file system for Linux.</a:t>
            </a:r>
          </a:p>
          <a:p>
            <a:pPr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t>• Its major improvements include extents, delayed allocation, scalability and better allocation methods.</a:t>
            </a:r>
          </a:p>
          <a:p>
            <a:pPr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t>• Inodes manage file metadata, while extents efficiently describe file data blocks.</a:t>
            </a:r>
          </a:p>
          <a:p>
            <a:pPr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t>• Journaling helps maintain file-system consistency after unexpected shutdowns or crashes.</a:t>
            </a:r>
          </a:p>
          <a:p>
            <a:pPr>
              <a:spcAft>
                <a:spcPts val="1200"/>
              </a:spcAft>
              <a:defRPr sz="2000">
                <a:solidFill>
                  <a:srgbClr val="23282D"/>
                </a:solidFill>
              </a:defRPr>
            </a:pPr>
            <a:r>
              <a:t>• Because of its stability, performance and broad Linux support, EXT4 remains an important file system to understand in Operating Systems.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3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574536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44C"/>
                </a:solidFill>
              </a:defRPr>
            </a:pPr>
            <a:r>
              <a:t>14.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82D"/>
                </a:solidFill>
              </a:defRPr>
            </a:pPr>
            <a:r>
              <a:t>• The Linux Kernel Documentation – EXT4 file system documentation.</a:t>
            </a:r>
          </a:p>
          <a:p>
            <a:pPr>
              <a:spcAft>
                <a:spcPts val="1200"/>
              </a:spcAft>
              <a:defRPr sz="1700">
                <a:solidFill>
                  <a:srgbClr val="23282D"/>
                </a:solidFill>
              </a:defRPr>
            </a:pPr>
            <a:r>
              <a:t>• The kernel.org documentation on ext4 file-system features and design.</a:t>
            </a:r>
          </a:p>
          <a:p>
            <a:pPr>
              <a:spcAft>
                <a:spcPts val="1200"/>
              </a:spcAft>
              <a:defRPr sz="1700">
                <a:solidFill>
                  <a:srgbClr val="23282D"/>
                </a:solidFill>
              </a:defRPr>
            </a:pPr>
            <a:r>
              <a:t>• Linux man-pages: ext4, mount, and filesystem-related documentation.</a:t>
            </a:r>
          </a:p>
          <a:p>
            <a:pPr>
              <a:spcAft>
                <a:spcPts val="1200"/>
              </a:spcAft>
              <a:defRPr sz="1700">
                <a:solidFill>
                  <a:srgbClr val="23282D"/>
                </a:solidFill>
              </a:defRPr>
            </a:pPr>
            <a:r>
              <a:t>• Operating Systems concepts and file-system management textbooks.</a:t>
            </a:r>
          </a:p>
          <a:p>
            <a:pPr>
              <a:spcAft>
                <a:spcPts val="1200"/>
              </a:spcAft>
              <a:defRPr sz="1700">
                <a:solidFill>
                  <a:srgbClr val="23282D"/>
                </a:solidFill>
              </a:defRPr>
            </a:pPr>
            <a:r>
              <a:t>• Ubuntu / Debian Linux documentation for practical file-system usage.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3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574536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